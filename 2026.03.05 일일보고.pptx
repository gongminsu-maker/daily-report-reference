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sldIdLst>
    <p:sldId id="256" r:id="rId2"/>
    <p:sldId id="274" r:id="rId3"/>
    <p:sldId id="257" r:id="rId4"/>
    <p:sldId id="266" r:id="rId5"/>
    <p:sldId id="268" r:id="rId6"/>
    <p:sldId id="258" r:id="rId7"/>
    <p:sldId id="262" r:id="rId8"/>
    <p:sldId id="263" r:id="rId9"/>
    <p:sldId id="260" r:id="rId10"/>
    <p:sldId id="270" r:id="rId11"/>
    <p:sldId id="265" r:id="rId12"/>
    <p:sldId id="273" r:id="rId13"/>
    <p:sldId id="272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F58"/>
    <a:srgbClr val="8F9196"/>
    <a:srgbClr val="478AF6"/>
    <a:srgbClr val="3BAB58"/>
    <a:srgbClr val="FBBF1C"/>
    <a:srgbClr val="EB48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22"/>
    <p:restoredTop sz="94664"/>
  </p:normalViewPr>
  <p:slideViewPr>
    <p:cSldViewPr showGuides="1">
      <p:cViewPr varScale="1">
        <p:scale>
          <a:sx n="77" d="100"/>
          <a:sy n="77" d="100"/>
        </p:scale>
        <p:origin x="1723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000" y="792000"/>
            <a:ext cx="8460000" cy="21600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000" y="3420000"/>
            <a:ext cx="8460000" cy="720000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7" name="그룹 9">
            <a:extLst>
              <a:ext uri="{FF2B5EF4-FFF2-40B4-BE49-F238E27FC236}">
                <a16:creationId xmlns:a16="http://schemas.microsoft.com/office/drawing/2014/main" id="{8566A8FD-2DFD-5BA7-D25A-58AA082FA2FF}"/>
              </a:ext>
            </a:extLst>
          </p:cNvPr>
          <p:cNvGrpSpPr/>
          <p:nvPr userDrawn="1"/>
        </p:nvGrpSpPr>
        <p:grpSpPr>
          <a:xfrm>
            <a:off x="539750" y="4983312"/>
            <a:ext cx="8064500" cy="1731053"/>
            <a:chOff x="539750" y="4759780"/>
            <a:chExt cx="8064500" cy="1731053"/>
          </a:xfrm>
        </p:grpSpPr>
        <p:pic>
          <p:nvPicPr>
            <p:cNvPr id="8" name="그림 10">
              <a:extLst>
                <a:ext uri="{FF2B5EF4-FFF2-40B4-BE49-F238E27FC236}">
                  <a16:creationId xmlns:a16="http://schemas.microsoft.com/office/drawing/2014/main" id="{2B743D00-C737-75E2-EB70-F96E40A9A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2535" y="4759780"/>
              <a:ext cx="5411715" cy="1729920"/>
            </a:xfrm>
            <a:prstGeom prst="rect">
              <a:avLst/>
            </a:prstGeom>
          </p:spPr>
        </p:pic>
        <p:pic>
          <p:nvPicPr>
            <p:cNvPr id="9" name="그림 11">
              <a:extLst>
                <a:ext uri="{FF2B5EF4-FFF2-40B4-BE49-F238E27FC236}">
                  <a16:creationId xmlns:a16="http://schemas.microsoft.com/office/drawing/2014/main" id="{6229B125-FE63-72E4-0B11-55EC8655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365" y="5495424"/>
              <a:ext cx="1990818" cy="995409"/>
            </a:xfrm>
            <a:prstGeom prst="rect">
              <a:avLst/>
            </a:prstGeom>
          </p:spPr>
        </p:pic>
        <p:pic>
          <p:nvPicPr>
            <p:cNvPr id="10" name="그림 12">
              <a:extLst>
                <a:ext uri="{FF2B5EF4-FFF2-40B4-BE49-F238E27FC236}">
                  <a16:creationId xmlns:a16="http://schemas.microsoft.com/office/drawing/2014/main" id="{15F19D28-AEDB-3840-732B-E028AC431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750" y="4760913"/>
              <a:ext cx="2402049" cy="734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031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000" y="180000"/>
            <a:ext cx="8442100" cy="482400"/>
          </a:xfrm>
        </p:spPr>
        <p:txBody>
          <a:bodyPr/>
          <a:lstStyle>
            <a:lvl1pPr>
              <a:defRPr>
                <a:solidFill>
                  <a:srgbClr val="1A3F58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900" y="828000"/>
            <a:ext cx="8712200" cy="5580000"/>
          </a:xfrm>
        </p:spPr>
        <p:txBody>
          <a:bodyPr/>
          <a:lstStyle>
            <a:lvl1pPr>
              <a:buClr>
                <a:schemeClr val="tx1"/>
              </a:buCl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buClr>
                <a:schemeClr val="tx1"/>
              </a:buCl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5900" y="6552000"/>
            <a:ext cx="2070247" cy="276999"/>
          </a:xfrm>
        </p:spPr>
        <p:txBody>
          <a:bodyPr wrap="square">
            <a:spAutoFit/>
          </a:bodyPr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KR" dirty="0"/>
              <a:t>Motion Control Lab, DGIST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789787" y="6551799"/>
            <a:ext cx="6138313" cy="277200"/>
          </a:xfrm>
        </p:spPr>
        <p:txBody>
          <a:bodyPr wrap="square">
            <a:spAutoFit/>
          </a:bodyPr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86C0460-0B58-1242-8101-22CBB944E215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362FBF-4A08-7023-92E2-E98BA68EF8B0}"/>
              </a:ext>
            </a:extLst>
          </p:cNvPr>
          <p:cNvSpPr/>
          <p:nvPr userDrawn="1"/>
        </p:nvSpPr>
        <p:spPr>
          <a:xfrm>
            <a:off x="-1" y="720000"/>
            <a:ext cx="9144002" cy="45719"/>
          </a:xfrm>
          <a:prstGeom prst="rect">
            <a:avLst/>
          </a:prstGeom>
          <a:solidFill>
            <a:srgbClr val="1A3F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9F5FE6AD-89F8-D1FB-F944-6A556DB7CF09}"/>
              </a:ext>
            </a:extLst>
          </p:cNvPr>
          <p:cNvSpPr>
            <a:spLocks noChangeAspect="1"/>
          </p:cNvSpPr>
          <p:nvPr userDrawn="1"/>
        </p:nvSpPr>
        <p:spPr>
          <a:xfrm>
            <a:off x="216000" y="316800"/>
            <a:ext cx="208800" cy="208800"/>
          </a:xfrm>
          <a:prstGeom prst="roundRect">
            <a:avLst/>
          </a:prstGeom>
          <a:solidFill>
            <a:srgbClr val="1A3F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242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Date</a:t>
            </a:r>
            <a:endParaRPr lang="en-K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KR" dirty="0"/>
              <a:t>Motion Control Lab, DGIST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86C0460-0B58-1242-8101-22CBB944E215}" type="slidenum">
              <a:rPr lang="en-KR" smtClean="0"/>
              <a:pPr/>
              <a:t>‹#›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4053885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66400" indent="-266400" algn="l" defTabSz="914400" rtl="0" eaLnBrk="1" latinLnBrk="0" hangingPunct="1">
        <a:lnSpc>
          <a:spcPct val="160000"/>
        </a:lnSpc>
        <a:spcBef>
          <a:spcPts val="384"/>
        </a:spcBef>
        <a:buClr>
          <a:schemeClr val="tx1"/>
        </a:buClr>
        <a:buFont typeface="+mj-lt"/>
        <a:buAutoNum type="arabicPeriod"/>
        <a:defRPr sz="16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4464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+mj-lt"/>
        <a:buAutoNum type="arabicParenR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6264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pos="215" userDrawn="1">
          <p15:clr>
            <a:srgbClr val="F26B43"/>
          </p15:clr>
        </p15:guide>
        <p15:guide id="3" pos="5545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5624" userDrawn="1">
          <p15:clr>
            <a:srgbClr val="F26B43"/>
          </p15:clr>
        </p15:guide>
        <p15:guide id="6" pos="136" userDrawn="1">
          <p15:clr>
            <a:srgbClr val="F26B43"/>
          </p15:clr>
        </p15:guide>
        <p15:guide id="7" orient="horz" pos="516" userDrawn="1">
          <p15:clr>
            <a:srgbClr val="F26B43"/>
          </p15:clr>
        </p15:guide>
        <p15:guide id="8" orient="horz" pos="5" userDrawn="1">
          <p15:clr>
            <a:srgbClr val="F26B43"/>
          </p15:clr>
        </p15:guide>
        <p15:guide id="9" orient="horz" pos="40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03E8-0264-3145-1AE3-71203F38D3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2026.03.05 </a:t>
            </a:r>
            <a:r>
              <a:rPr lang="ko-KR" altLang="en-US" dirty="0"/>
              <a:t>일일 보고</a:t>
            </a:r>
            <a:br>
              <a:rPr lang="en-US" altLang="ko-KR" dirty="0"/>
            </a:br>
            <a:r>
              <a:rPr lang="ko-KR" altLang="en-US" dirty="0"/>
              <a:t>학습 내용 정리</a:t>
            </a:r>
            <a:endParaRPr lang="en-K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EFC1A-8C6A-85C7-F4A6-BAC9346043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공민수 석사과정생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835744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8F8E5-DE99-062B-3A22-0832EBE5D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7719BD-0741-BE1A-9525-A17F95B9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951EC0-3EF8-0374-0B76-75868D948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760" y="818652"/>
            <a:ext cx="8712200" cy="60393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000" dirty="0"/>
              <a:t>Pole Placement PI &amp; DOB </a:t>
            </a:r>
          </a:p>
          <a:p>
            <a:pPr marL="465750" lvl="1" indent="-285750">
              <a:buFont typeface="Wingdings" panose="05000000000000000000" pitchFamily="2" charset="2"/>
              <a:buChar char="Ø"/>
            </a:pPr>
            <a:r>
              <a:rPr lang="en-US" altLang="ko-KR" sz="1800" dirty="0"/>
              <a:t>Tracking Performance with Bode plot</a:t>
            </a:r>
          </a:p>
          <a:p>
            <a:pPr marL="465750" lvl="1" indent="-285750">
              <a:buFont typeface="Wingdings" panose="05000000000000000000" pitchFamily="2" charset="2"/>
              <a:buChar char="Ø"/>
            </a:pPr>
            <a:r>
              <a:rPr lang="en-US" altLang="ko-KR" sz="1800" dirty="0"/>
              <a:t>Disturbance Estimation Performance</a:t>
            </a:r>
          </a:p>
          <a:p>
            <a:pPr marL="465750" lvl="1" indent="-285750">
              <a:buFont typeface="Wingdings" panose="05000000000000000000" pitchFamily="2" charset="2"/>
              <a:buChar char="Ø"/>
            </a:pP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000" dirty="0"/>
              <a:t>Adding  Feed Forward Control</a:t>
            </a:r>
          </a:p>
          <a:p>
            <a:pPr marL="465750" lvl="1" indent="-285750">
              <a:buFont typeface="Wingdings" panose="05000000000000000000" pitchFamily="2" charset="2"/>
              <a:buChar char="Ø"/>
            </a:pPr>
            <a:r>
              <a:rPr lang="en-US" altLang="ko-KR" sz="1800" dirty="0"/>
              <a:t>Change of Control Input &amp; Tracking Performance</a:t>
            </a:r>
          </a:p>
          <a:p>
            <a:pPr marL="465750" lvl="1" indent="-285750">
              <a:buFont typeface="Wingdings" panose="05000000000000000000" pitchFamily="2" charset="2"/>
              <a:buChar char="Ø"/>
            </a:pPr>
            <a:endParaRPr lang="en-US" altLang="ko-KR" sz="1800" dirty="0"/>
          </a:p>
          <a:p>
            <a:pPr marL="180000" lvl="1" indent="0">
              <a:buNone/>
            </a:pP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000" dirty="0"/>
              <a:t>Adding the nominal values of </a:t>
            </a:r>
            <a:r>
              <a:rPr lang="en-US" altLang="ko-KR" sz="2000" dirty="0" err="1"/>
              <a:t>maxon</a:t>
            </a:r>
            <a:r>
              <a:rPr lang="en-US" altLang="ko-KR" sz="2000" dirty="0"/>
              <a:t> motor</a:t>
            </a:r>
          </a:p>
          <a:p>
            <a:pPr marL="465750" lvl="1" indent="-285750">
              <a:buFont typeface="Wingdings" panose="05000000000000000000" pitchFamily="2" charset="2"/>
              <a:buChar char="Ø"/>
            </a:pPr>
            <a:r>
              <a:rPr lang="en-US" altLang="ko-KR" sz="1800" dirty="0"/>
              <a:t>Effect of Saturation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73930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E659D9-CD06-24F6-99AB-3D7DF349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Pole Placement PI &amp; DOB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DDD69F-A7FC-2EB6-1CFA-9F43F178A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760" y="818652"/>
            <a:ext cx="8712200" cy="603934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Velocity Control Block Diagram with PI &amp; DOB 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Arbitrary Constant Parameters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Varying Parameters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Frequency of Reference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Frequency of Disturbance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D2424F-981F-F7E8-C8A2-03F17CE83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3" y="1260000"/>
            <a:ext cx="8923793" cy="29491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3135844-2611-C6A5-72F9-3CC9362C70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9957235"/>
                  </p:ext>
                </p:extLst>
              </p:nvPr>
            </p:nvGraphicFramePr>
            <p:xfrm>
              <a:off x="110104" y="4772220"/>
              <a:ext cx="8923792" cy="889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5474">
                      <a:extLst>
                        <a:ext uri="{9D8B030D-6E8A-4147-A177-3AD203B41FA5}">
                          <a16:colId xmlns:a16="http://schemas.microsoft.com/office/drawing/2014/main" val="3525398481"/>
                        </a:ext>
                      </a:extLst>
                    </a:gridCol>
                    <a:gridCol w="1115474">
                      <a:extLst>
                        <a:ext uri="{9D8B030D-6E8A-4147-A177-3AD203B41FA5}">
                          <a16:colId xmlns:a16="http://schemas.microsoft.com/office/drawing/2014/main" val="1898683000"/>
                        </a:ext>
                      </a:extLst>
                    </a:gridCol>
                    <a:gridCol w="1115474">
                      <a:extLst>
                        <a:ext uri="{9D8B030D-6E8A-4147-A177-3AD203B41FA5}">
                          <a16:colId xmlns:a16="http://schemas.microsoft.com/office/drawing/2014/main" val="527826373"/>
                        </a:ext>
                      </a:extLst>
                    </a:gridCol>
                    <a:gridCol w="1115474">
                      <a:extLst>
                        <a:ext uri="{9D8B030D-6E8A-4147-A177-3AD203B41FA5}">
                          <a16:colId xmlns:a16="http://schemas.microsoft.com/office/drawing/2014/main" val="4117817558"/>
                        </a:ext>
                      </a:extLst>
                    </a:gridCol>
                    <a:gridCol w="1115474">
                      <a:extLst>
                        <a:ext uri="{9D8B030D-6E8A-4147-A177-3AD203B41FA5}">
                          <a16:colId xmlns:a16="http://schemas.microsoft.com/office/drawing/2014/main" val="1040816370"/>
                        </a:ext>
                      </a:extLst>
                    </a:gridCol>
                    <a:gridCol w="1115474">
                      <a:extLst>
                        <a:ext uri="{9D8B030D-6E8A-4147-A177-3AD203B41FA5}">
                          <a16:colId xmlns:a16="http://schemas.microsoft.com/office/drawing/2014/main" val="4266289029"/>
                        </a:ext>
                      </a:extLst>
                    </a:gridCol>
                    <a:gridCol w="1115474">
                      <a:extLst>
                        <a:ext uri="{9D8B030D-6E8A-4147-A177-3AD203B41FA5}">
                          <a16:colId xmlns:a16="http://schemas.microsoft.com/office/drawing/2014/main" val="647386512"/>
                        </a:ext>
                      </a:extLst>
                    </a:gridCol>
                    <a:gridCol w="1115474">
                      <a:extLst>
                        <a:ext uri="{9D8B030D-6E8A-4147-A177-3AD203B41FA5}">
                          <a16:colId xmlns:a16="http://schemas.microsoft.com/office/drawing/2014/main" val="41242178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J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zeta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 err="1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wn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Bandwidth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Magnitude Reference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Magnitude Disturbance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1" hangingPunct="1"/>
                          <a:r>
                            <a:rPr lang="en-US" altLang="ko-KR" sz="1400" b="1" kern="1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LPF Cutoff </a:t>
                          </a:r>
                          <a:r>
                            <a:rPr lang="en-US" altLang="ko-KR" sz="1400" b="1" kern="1200" dirty="0" err="1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Fq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10571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1[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kg</m:t>
                              </m:r>
                              <m: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altLang="ko-KR" sz="1400" b="1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400" b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altLang="ko-KR" sz="1400" b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]</a:t>
                          </a:r>
                          <a:endParaRPr lang="ko-KR" altLang="en-US" sz="14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0.5[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  <m: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lang="ko-KR" altLang="en-US" sz="14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ko-KR" altLang="en-US" sz="14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10[rad/s]</a:t>
                          </a:r>
                          <a:endParaRPr lang="ko-KR" altLang="en-US" sz="14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1" hangingPunct="1"/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1.59[Hz]</a:t>
                          </a:r>
                          <a:endParaRPr lang="ko-KR" altLang="en-US" sz="14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10[rad/s]</a:t>
                          </a:r>
                          <a:endParaRPr lang="ko-KR" altLang="en-US" sz="14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10[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</m:oMath>
                          </a14:m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lang="ko-KR" altLang="en-US" sz="14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10[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</m:oMath>
                          </a14:m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lang="ko-KR" altLang="en-US" sz="14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73804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3135844-2611-C6A5-72F9-3CC9362C70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9957235"/>
                  </p:ext>
                </p:extLst>
              </p:nvPr>
            </p:nvGraphicFramePr>
            <p:xfrm>
              <a:off x="110104" y="4772220"/>
              <a:ext cx="8923792" cy="889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5474">
                      <a:extLst>
                        <a:ext uri="{9D8B030D-6E8A-4147-A177-3AD203B41FA5}">
                          <a16:colId xmlns:a16="http://schemas.microsoft.com/office/drawing/2014/main" val="3525398481"/>
                        </a:ext>
                      </a:extLst>
                    </a:gridCol>
                    <a:gridCol w="1115474">
                      <a:extLst>
                        <a:ext uri="{9D8B030D-6E8A-4147-A177-3AD203B41FA5}">
                          <a16:colId xmlns:a16="http://schemas.microsoft.com/office/drawing/2014/main" val="1898683000"/>
                        </a:ext>
                      </a:extLst>
                    </a:gridCol>
                    <a:gridCol w="1115474">
                      <a:extLst>
                        <a:ext uri="{9D8B030D-6E8A-4147-A177-3AD203B41FA5}">
                          <a16:colId xmlns:a16="http://schemas.microsoft.com/office/drawing/2014/main" val="527826373"/>
                        </a:ext>
                      </a:extLst>
                    </a:gridCol>
                    <a:gridCol w="1115474">
                      <a:extLst>
                        <a:ext uri="{9D8B030D-6E8A-4147-A177-3AD203B41FA5}">
                          <a16:colId xmlns:a16="http://schemas.microsoft.com/office/drawing/2014/main" val="4117817558"/>
                        </a:ext>
                      </a:extLst>
                    </a:gridCol>
                    <a:gridCol w="1115474">
                      <a:extLst>
                        <a:ext uri="{9D8B030D-6E8A-4147-A177-3AD203B41FA5}">
                          <a16:colId xmlns:a16="http://schemas.microsoft.com/office/drawing/2014/main" val="1040816370"/>
                        </a:ext>
                      </a:extLst>
                    </a:gridCol>
                    <a:gridCol w="1115474">
                      <a:extLst>
                        <a:ext uri="{9D8B030D-6E8A-4147-A177-3AD203B41FA5}">
                          <a16:colId xmlns:a16="http://schemas.microsoft.com/office/drawing/2014/main" val="4266289029"/>
                        </a:ext>
                      </a:extLst>
                    </a:gridCol>
                    <a:gridCol w="1115474">
                      <a:extLst>
                        <a:ext uri="{9D8B030D-6E8A-4147-A177-3AD203B41FA5}">
                          <a16:colId xmlns:a16="http://schemas.microsoft.com/office/drawing/2014/main" val="647386512"/>
                        </a:ext>
                      </a:extLst>
                    </a:gridCol>
                    <a:gridCol w="1115474">
                      <a:extLst>
                        <a:ext uri="{9D8B030D-6E8A-4147-A177-3AD203B41FA5}">
                          <a16:colId xmlns:a16="http://schemas.microsoft.com/office/drawing/2014/main" val="412421786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J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zeta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 err="1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wn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Bandwidth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Magnitude Reference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Magnitude Disturbance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1" hangingPunct="1"/>
                          <a:r>
                            <a:rPr lang="en-US" altLang="ko-KR" sz="1400" b="1" kern="1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LPF Cutoff </a:t>
                          </a:r>
                          <a:r>
                            <a:rPr lang="en-US" altLang="ko-KR" sz="1400" b="1" kern="1200" dirty="0" err="1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Fq</a:t>
                          </a:r>
                          <a:endParaRPr lang="ko-KR" altLang="en-US" sz="1400" b="1" kern="12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10571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546" t="-142623" r="-70273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546" t="-142623" r="-60273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ko-KR" altLang="en-US" sz="14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10[rad/s]</a:t>
                          </a:r>
                          <a:endParaRPr lang="ko-KR" altLang="en-US" sz="14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1" hangingPunct="1"/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1.59[Hz]</a:t>
                          </a:r>
                          <a:endParaRPr lang="ko-KR" altLang="en-US" sz="14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10[rad/s]</a:t>
                          </a:r>
                          <a:endParaRPr lang="ko-KR" altLang="en-US" sz="14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00546" t="-142623" r="-10273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700546" t="-142623" r="-2732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738047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8807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367D-C48E-A804-2542-F819B86C3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A1ABA3-4475-5473-A52A-04F0F8996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Tracking Performance with Bode plot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F30BD6-41EF-A471-DDF6-1879B858B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Approach 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Relationship between Reference frequency and PI Bandwidth</a:t>
            </a:r>
          </a:p>
          <a:p>
            <a:pPr marL="180000" lvl="1" indent="0">
              <a:buNone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Analysis Method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Tracking Performance Observation by Adjusting Input Frequency Based on Bode Plot Gain and Phase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DE169A-778B-136A-7702-A39A3EDF3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0" y="2843860"/>
            <a:ext cx="4816257" cy="38255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8895B9-402D-832F-1A35-ED7FF8664B9B}"/>
              </a:ext>
            </a:extLst>
          </p:cNvPr>
          <p:cNvSpPr txBox="1"/>
          <p:nvPr/>
        </p:nvSpPr>
        <p:spPr>
          <a:xfrm>
            <a:off x="5772103" y="2843860"/>
            <a:ext cx="26861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</a:t>
            </a:r>
            <a:r>
              <a:rPr lang="ko-KR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1.1995</a:t>
            </a:r>
            <a:endParaRPr lang="en-US" altLang="ko-K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Magnitude = </a:t>
            </a:r>
            <a:r>
              <a:rPr lang="ko-KR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1.58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ko-KR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ko-KR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-36.57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ko-KR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841BD1B-B580-7A5B-5BBB-25E7BCF54109}"/>
              </a:ext>
            </a:extLst>
          </p:cNvPr>
          <p:cNvCxnSpPr>
            <a:cxnSpLocks/>
          </p:cNvCxnSpPr>
          <p:nvPr/>
        </p:nvCxnSpPr>
        <p:spPr>
          <a:xfrm>
            <a:off x="2321700" y="3113896"/>
            <a:ext cx="0" cy="3060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C4550E7-6090-9868-3B7B-06543874B63D}"/>
              </a:ext>
            </a:extLst>
          </p:cNvPr>
          <p:cNvSpPr txBox="1"/>
          <p:nvPr/>
        </p:nvSpPr>
        <p:spPr>
          <a:xfrm>
            <a:off x="2321700" y="4459434"/>
            <a:ext cx="720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rgbClr val="FF0000"/>
                </a:solidFill>
              </a:rPr>
              <a:t>Wn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579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B8684-F57C-B415-86D1-E2D40D35E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ECE07-6BAA-E7A0-A6E8-9C5E7512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Tracking Performance with Bode plot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0B70BD-7099-F4C7-FCD5-E2BDA30E8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Results 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Frequency of reference =  Bandwidth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3A136EF-24DC-C82D-C3CB-799FB6159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01" y="1997568"/>
            <a:ext cx="3726275" cy="2340312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C70CD71-0EFD-BD44-62CC-4426600D4625}"/>
              </a:ext>
            </a:extLst>
          </p:cNvPr>
          <p:cNvCxnSpPr>
            <a:cxnSpLocks/>
          </p:cNvCxnSpPr>
          <p:nvPr/>
        </p:nvCxnSpPr>
        <p:spPr>
          <a:xfrm flipH="1">
            <a:off x="665701" y="2330796"/>
            <a:ext cx="3708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8EA5750-D778-BFB5-6A83-01183DA88894}"/>
              </a:ext>
            </a:extLst>
          </p:cNvPr>
          <p:cNvCxnSpPr>
            <a:cxnSpLocks/>
          </p:cNvCxnSpPr>
          <p:nvPr/>
        </p:nvCxnSpPr>
        <p:spPr>
          <a:xfrm>
            <a:off x="665701" y="2447628"/>
            <a:ext cx="370800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445FDF46-C7FD-52B7-0E6F-474348068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01" y="4482267"/>
            <a:ext cx="3726275" cy="2340312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1A8558B-60B9-4173-4183-5B97AE2FBD96}"/>
              </a:ext>
            </a:extLst>
          </p:cNvPr>
          <p:cNvCxnSpPr>
            <a:cxnSpLocks/>
          </p:cNvCxnSpPr>
          <p:nvPr/>
        </p:nvCxnSpPr>
        <p:spPr>
          <a:xfrm>
            <a:off x="1781305" y="4482267"/>
            <a:ext cx="0" cy="22045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2F9FA87-A0D7-DC35-2C5D-EAFE8EAB102F}"/>
              </a:ext>
            </a:extLst>
          </p:cNvPr>
          <p:cNvCxnSpPr>
            <a:cxnSpLocks/>
          </p:cNvCxnSpPr>
          <p:nvPr/>
        </p:nvCxnSpPr>
        <p:spPr>
          <a:xfrm>
            <a:off x="1691293" y="4482267"/>
            <a:ext cx="0" cy="2195925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B9358F1-AC32-8D4E-9251-4228B4A81D9D}"/>
              </a:ext>
            </a:extLst>
          </p:cNvPr>
          <p:cNvSpPr txBox="1"/>
          <p:nvPr/>
        </p:nvSpPr>
        <p:spPr>
          <a:xfrm>
            <a:off x="5040000" y="1898796"/>
            <a:ext cx="30604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Peak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2.02 [rad/s]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peak = 10 [rad/s]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= 1.202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D688A4-79A1-EE39-169D-1B83AD61D34A}"/>
              </a:ext>
            </a:extLst>
          </p:cNvPr>
          <p:cNvSpPr txBox="1"/>
          <p:nvPr/>
        </p:nvSpPr>
        <p:spPr>
          <a:xfrm>
            <a:off x="5040000" y="4418796"/>
            <a:ext cx="34204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Delay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0.061 [s]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Frequency= 1.59 [Hz]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=  34.91 [deg]</a:t>
            </a:r>
            <a:r>
              <a:rPr lang="ko-KR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F4A0F0-A2FE-0C4E-3D37-D5588C515AB4}"/>
              </a:ext>
            </a:extLst>
          </p:cNvPr>
          <p:cNvSpPr txBox="1"/>
          <p:nvPr/>
        </p:nvSpPr>
        <p:spPr>
          <a:xfrm>
            <a:off x="4373701" y="4098595"/>
            <a:ext cx="194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[s]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215C63-B9B2-7F70-E7F7-FAA266387CBF}"/>
              </a:ext>
            </a:extLst>
          </p:cNvPr>
          <p:cNvSpPr txBox="1"/>
          <p:nvPr/>
        </p:nvSpPr>
        <p:spPr>
          <a:xfrm>
            <a:off x="2540" y="3020464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W[rad/s]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14C623-B7CE-E1F6-5624-2C8D72BF30B3}"/>
              </a:ext>
            </a:extLst>
          </p:cNvPr>
          <p:cNvSpPr txBox="1"/>
          <p:nvPr/>
        </p:nvSpPr>
        <p:spPr>
          <a:xfrm>
            <a:off x="-2095" y="5505163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W[rad/s]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A3A8FC-4F17-267F-DA78-8AB0BE5A14A3}"/>
              </a:ext>
            </a:extLst>
          </p:cNvPr>
          <p:cNvSpPr txBox="1"/>
          <p:nvPr/>
        </p:nvSpPr>
        <p:spPr>
          <a:xfrm>
            <a:off x="4351766" y="6588493"/>
            <a:ext cx="194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[s]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18E1BB7-8BEA-B93E-39A8-E45F43BB392E}"/>
              </a:ext>
            </a:extLst>
          </p:cNvPr>
          <p:cNvCxnSpPr>
            <a:cxnSpLocks/>
          </p:cNvCxnSpPr>
          <p:nvPr/>
        </p:nvCxnSpPr>
        <p:spPr>
          <a:xfrm flipH="1">
            <a:off x="3107602" y="1683578"/>
            <a:ext cx="69884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5B12544-A1BB-2493-6C0B-8447010F74B6}"/>
              </a:ext>
            </a:extLst>
          </p:cNvPr>
          <p:cNvCxnSpPr>
            <a:cxnSpLocks/>
          </p:cNvCxnSpPr>
          <p:nvPr/>
        </p:nvCxnSpPr>
        <p:spPr>
          <a:xfrm flipH="1">
            <a:off x="3131197" y="1863602"/>
            <a:ext cx="69884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289CCC3-E953-36EB-4512-D45D5C47999F}"/>
              </a:ext>
            </a:extLst>
          </p:cNvPr>
          <p:cNvSpPr txBox="1"/>
          <p:nvPr/>
        </p:nvSpPr>
        <p:spPr>
          <a:xfrm>
            <a:off x="3866235" y="1548638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Ref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7CB1D5-DA5C-6870-E283-D57F43F2F1E7}"/>
              </a:ext>
            </a:extLst>
          </p:cNvPr>
          <p:cNvSpPr txBox="1"/>
          <p:nvPr/>
        </p:nvSpPr>
        <p:spPr>
          <a:xfrm>
            <a:off x="3866234" y="1735618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26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B2DE-CA16-0540-9408-B7B892FCE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A460F-12E0-E639-3BDF-35F84CF8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Tracking Performance with Bode plot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81237D-56AA-8676-5260-3858BE411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00" y="4797144"/>
            <a:ext cx="8775700" cy="3591132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Conclusions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The bandwidth in pole placement can be used to tune the frequency range for tracking.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5228E4A-B063-ADE1-CD81-299794C44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5" y="1808784"/>
            <a:ext cx="3733429" cy="234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A0D1633-3B4D-F8ED-0CEB-ADEDA94BD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060" y="1809096"/>
            <a:ext cx="3764348" cy="2340000"/>
          </a:xfrm>
          <a:prstGeom prst="rect">
            <a:avLst/>
          </a:prstGeom>
        </p:spPr>
      </p:pic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4D37CD37-B115-CE2B-C5FD-34CEE973FA00}"/>
              </a:ext>
            </a:extLst>
          </p:cNvPr>
          <p:cNvSpPr txBox="1">
            <a:spLocks/>
          </p:cNvSpPr>
          <p:nvPr/>
        </p:nvSpPr>
        <p:spPr>
          <a:xfrm>
            <a:off x="4707050" y="828000"/>
            <a:ext cx="3636004" cy="55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400" indent="-266400" algn="l" defTabSz="914400" rtl="0" eaLnBrk="1" latinLnBrk="0" hangingPunct="1">
              <a:lnSpc>
                <a:spcPct val="160000"/>
              </a:lnSpc>
              <a:spcBef>
                <a:spcPts val="384"/>
              </a:spcBef>
              <a:buClr>
                <a:schemeClr val="tx1"/>
              </a:buClr>
              <a:buFont typeface="+mj-lt"/>
              <a:buAutoNum type="arabicPeriod"/>
              <a:defRPr sz="16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464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+mj-lt"/>
              <a:buAutoNum type="arabicParenR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264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 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Frequency of reference &gt; &gt;Bandwidth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0F1648D3-1592-8B3C-A1FD-BE8813BA677F}"/>
              </a:ext>
            </a:extLst>
          </p:cNvPr>
          <p:cNvSpPr txBox="1">
            <a:spLocks/>
          </p:cNvSpPr>
          <p:nvPr/>
        </p:nvSpPr>
        <p:spPr>
          <a:xfrm>
            <a:off x="216000" y="828000"/>
            <a:ext cx="3636004" cy="3591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400" indent="-266400" algn="l" defTabSz="914400" rtl="0" eaLnBrk="1" latinLnBrk="0" hangingPunct="1">
              <a:lnSpc>
                <a:spcPct val="160000"/>
              </a:lnSpc>
              <a:spcBef>
                <a:spcPts val="384"/>
              </a:spcBef>
              <a:buClr>
                <a:schemeClr val="tx1"/>
              </a:buClr>
              <a:buFont typeface="+mj-lt"/>
              <a:buAutoNum type="arabicPeriod"/>
              <a:defRPr sz="16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464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+mj-lt"/>
              <a:buAutoNum type="arabicParenR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264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Results 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Frequency of reference &lt;&lt; Bandwidth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8AC7B6-CE17-5365-888C-C68D343FE675}"/>
              </a:ext>
            </a:extLst>
          </p:cNvPr>
          <p:cNvSpPr txBox="1"/>
          <p:nvPr/>
        </p:nvSpPr>
        <p:spPr>
          <a:xfrm>
            <a:off x="3682438" y="4123091"/>
            <a:ext cx="194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[s]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93A053-EB02-AF28-2AEA-2BDB2EF2D5FD}"/>
              </a:ext>
            </a:extLst>
          </p:cNvPr>
          <p:cNvSpPr txBox="1"/>
          <p:nvPr/>
        </p:nvSpPr>
        <p:spPr>
          <a:xfrm>
            <a:off x="-105204" y="2840284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W[rad/s]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7A8CB7-8F39-5419-9BF0-3BD9911DA8CE}"/>
              </a:ext>
            </a:extLst>
          </p:cNvPr>
          <p:cNvSpPr txBox="1"/>
          <p:nvPr/>
        </p:nvSpPr>
        <p:spPr>
          <a:xfrm>
            <a:off x="4316293" y="2842570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W[rad/s]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891712-0E28-E0B5-E096-773D570A2B1C}"/>
              </a:ext>
            </a:extLst>
          </p:cNvPr>
          <p:cNvSpPr txBox="1"/>
          <p:nvPr/>
        </p:nvSpPr>
        <p:spPr>
          <a:xfrm>
            <a:off x="8172480" y="4148784"/>
            <a:ext cx="194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[s]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F2BA837-25C0-24C9-D229-874FAF03250E}"/>
              </a:ext>
            </a:extLst>
          </p:cNvPr>
          <p:cNvCxnSpPr>
            <a:cxnSpLocks/>
          </p:cNvCxnSpPr>
          <p:nvPr/>
        </p:nvCxnSpPr>
        <p:spPr>
          <a:xfrm flipH="1">
            <a:off x="7499576" y="4511089"/>
            <a:ext cx="69884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399B6A8-D4C6-818D-57EB-72354D06135B}"/>
              </a:ext>
            </a:extLst>
          </p:cNvPr>
          <p:cNvCxnSpPr>
            <a:cxnSpLocks/>
          </p:cNvCxnSpPr>
          <p:nvPr/>
        </p:nvCxnSpPr>
        <p:spPr>
          <a:xfrm flipH="1">
            <a:off x="7523171" y="4691113"/>
            <a:ext cx="69884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95EC7D8-7B70-0067-474C-BE2540620CB7}"/>
              </a:ext>
            </a:extLst>
          </p:cNvPr>
          <p:cNvSpPr txBox="1"/>
          <p:nvPr/>
        </p:nvSpPr>
        <p:spPr>
          <a:xfrm>
            <a:off x="8258209" y="4376149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5B559B-879F-9086-348E-154912EA98F7}"/>
              </a:ext>
            </a:extLst>
          </p:cNvPr>
          <p:cNvSpPr txBox="1"/>
          <p:nvPr/>
        </p:nvSpPr>
        <p:spPr>
          <a:xfrm>
            <a:off x="8258208" y="4563129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990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B730A-1D25-8744-E90E-73BCC293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1BCBE-C03A-481C-2B48-9DCC1D9B8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Disturbance Estimation Performance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FA29915-11A5-140A-8EB1-338C5E4711BE}"/>
              </a:ext>
            </a:extLst>
          </p:cNvPr>
          <p:cNvSpPr txBox="1">
            <a:spLocks/>
          </p:cNvSpPr>
          <p:nvPr/>
        </p:nvSpPr>
        <p:spPr>
          <a:xfrm>
            <a:off x="216000" y="828000"/>
            <a:ext cx="8712200" cy="5931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400" indent="-266400" algn="l" defTabSz="914400" rtl="0" eaLnBrk="1" latinLnBrk="0" hangingPunct="1">
              <a:lnSpc>
                <a:spcPct val="160000"/>
              </a:lnSpc>
              <a:spcBef>
                <a:spcPts val="384"/>
              </a:spcBef>
              <a:buClr>
                <a:schemeClr val="tx1"/>
              </a:buClr>
              <a:buFont typeface="+mj-lt"/>
              <a:buAutoNum type="arabicPeriod"/>
              <a:defRPr sz="16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464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+mj-lt"/>
              <a:buAutoNum type="arabicParenR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264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Approach 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Relationship between Reference frequency and PI Bandwidth 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Analysis Method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Estimation Performance by Adjusting  Disturbance Frequency Based on 1</a:t>
            </a:r>
            <a:r>
              <a:rPr lang="en-US" altLang="ko-KR" baseline="30000" dirty="0"/>
              <a:t>st</a:t>
            </a:r>
            <a:r>
              <a:rPr lang="en-US" altLang="ko-KR" dirty="0"/>
              <a:t> LPF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Results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Conclusion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The Disturbance estimation performance is influenced by the cutoff frequency of the LPF 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F783547-9F09-9859-64BF-41E71E3EB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32" y="3359113"/>
            <a:ext cx="2700000" cy="16814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BC8998A-1372-15F0-1A9E-72CC4F80A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216" y="3359113"/>
            <a:ext cx="2700000" cy="169010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DEB45E2-732D-9D04-B383-5463C7DEB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600" y="3359112"/>
            <a:ext cx="2700000" cy="16792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04099C3-F299-D670-0CE7-CC70A31A5A9A}"/>
              </a:ext>
            </a:extLst>
          </p:cNvPr>
          <p:cNvSpPr txBox="1"/>
          <p:nvPr/>
        </p:nvSpPr>
        <p:spPr>
          <a:xfrm>
            <a:off x="8352504" y="5038338"/>
            <a:ext cx="194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[s]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323719-7571-FBAD-6491-B8EB2D235CA0}"/>
              </a:ext>
            </a:extLst>
          </p:cNvPr>
          <p:cNvSpPr txBox="1"/>
          <p:nvPr/>
        </p:nvSpPr>
        <p:spPr>
          <a:xfrm>
            <a:off x="-18612" y="4060225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W[rad/s]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565F1A-199E-9AF6-5604-308ABED5CADF}"/>
              </a:ext>
            </a:extLst>
          </p:cNvPr>
          <p:cNvSpPr txBox="1"/>
          <p:nvPr/>
        </p:nvSpPr>
        <p:spPr>
          <a:xfrm>
            <a:off x="1705945" y="5038337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1[Hz]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999D00-5CAD-FCCE-CAF3-8FD48F493C97}"/>
              </a:ext>
            </a:extLst>
          </p:cNvPr>
          <p:cNvSpPr txBox="1"/>
          <p:nvPr/>
        </p:nvSpPr>
        <p:spPr>
          <a:xfrm>
            <a:off x="4607585" y="5049216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5[</a:t>
            </a: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Hz]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A5FB02-5509-E204-8254-AD695FE95683}"/>
              </a:ext>
            </a:extLst>
          </p:cNvPr>
          <p:cNvSpPr txBox="1"/>
          <p:nvPr/>
        </p:nvSpPr>
        <p:spPr>
          <a:xfrm>
            <a:off x="7465351" y="5049216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10[Hz]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1D68114-70D6-D33A-51CC-D1A9C8913FF3}"/>
              </a:ext>
            </a:extLst>
          </p:cNvPr>
          <p:cNvCxnSpPr>
            <a:cxnSpLocks/>
          </p:cNvCxnSpPr>
          <p:nvPr/>
        </p:nvCxnSpPr>
        <p:spPr>
          <a:xfrm>
            <a:off x="611832" y="3609024"/>
            <a:ext cx="8460768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69D4410-B96B-0644-ABA5-B333114873F1}"/>
              </a:ext>
            </a:extLst>
          </p:cNvPr>
          <p:cNvCxnSpPr>
            <a:cxnSpLocks/>
          </p:cNvCxnSpPr>
          <p:nvPr/>
        </p:nvCxnSpPr>
        <p:spPr>
          <a:xfrm flipH="1">
            <a:off x="3492216" y="3672000"/>
            <a:ext cx="2700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17CED55-CAEF-790E-9E3F-EEDF7C7F933C}"/>
              </a:ext>
            </a:extLst>
          </p:cNvPr>
          <p:cNvCxnSpPr>
            <a:cxnSpLocks/>
          </p:cNvCxnSpPr>
          <p:nvPr/>
        </p:nvCxnSpPr>
        <p:spPr>
          <a:xfrm flipH="1">
            <a:off x="6372600" y="3780000"/>
            <a:ext cx="2700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38DBC5C-CE34-E554-2FBF-F9EF963FD372}"/>
              </a:ext>
            </a:extLst>
          </p:cNvPr>
          <p:cNvCxnSpPr>
            <a:cxnSpLocks/>
          </p:cNvCxnSpPr>
          <p:nvPr/>
        </p:nvCxnSpPr>
        <p:spPr>
          <a:xfrm flipH="1">
            <a:off x="7788224" y="2978940"/>
            <a:ext cx="69884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9DDB780-E591-D551-CBD0-F6981EC35506}"/>
              </a:ext>
            </a:extLst>
          </p:cNvPr>
          <p:cNvCxnSpPr>
            <a:cxnSpLocks/>
          </p:cNvCxnSpPr>
          <p:nvPr/>
        </p:nvCxnSpPr>
        <p:spPr>
          <a:xfrm flipH="1">
            <a:off x="7811819" y="3158964"/>
            <a:ext cx="69884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29B56CB-AC8F-03DE-9323-7AA9385A44D9}"/>
              </a:ext>
            </a:extLst>
          </p:cNvPr>
          <p:cNvSpPr txBox="1"/>
          <p:nvPr/>
        </p:nvSpPr>
        <p:spPr>
          <a:xfrm>
            <a:off x="8546857" y="2844000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D_hat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077844-FADF-2249-66CE-3FBF8E7FF9BC}"/>
              </a:ext>
            </a:extLst>
          </p:cNvPr>
          <p:cNvSpPr txBox="1"/>
          <p:nvPr/>
        </p:nvSpPr>
        <p:spPr>
          <a:xfrm>
            <a:off x="8546856" y="3030980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769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21B1A-2B53-95A6-CCB4-E246B24B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A1CD1-FC23-1275-530E-0EFC3BD2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Adding  Feed Forward Control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D00CFD-629F-6FEC-E391-34175B436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760" y="818652"/>
            <a:ext cx="8712200" cy="603934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Velocity Control Block Diagram with PI, DOB &amp; Feed Forward 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Parameters is the Same with ‘Velocity output with PI &amp; DOB’  and Feed Forward Cutoff </a:t>
            </a:r>
            <a:r>
              <a:rPr lang="en-US" altLang="ko-KR" dirty="0" err="1"/>
              <a:t>Frquency</a:t>
            </a:r>
            <a:r>
              <a:rPr lang="en-US" altLang="ko-KR" dirty="0"/>
              <a:t> is 150 [Hz]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65440D-8116-EFED-6058-78CA48CF8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29" y="1260000"/>
            <a:ext cx="8093141" cy="358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97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419DB-0677-AF0C-B0B6-4605DED4A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F2FDF-2CCF-13B9-2C6D-26503BF47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Change of Control Input &amp; Tracking Performance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5551F4-F72E-22B8-6714-DEDD9C3C8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Change of Control Input </a:t>
            </a:r>
            <a:r>
              <a:rPr lang="en-US" altLang="ko-KR" dirty="0" err="1"/>
              <a:t>Upi</a:t>
            </a:r>
            <a:r>
              <a:rPr lang="en-US" altLang="ko-KR" dirty="0"/>
              <a:t>, </a:t>
            </a:r>
            <a:r>
              <a:rPr lang="en-US" altLang="ko-KR" dirty="0" err="1"/>
              <a:t>Udob</a:t>
            </a:r>
            <a:r>
              <a:rPr lang="en-US" altLang="ko-KR" dirty="0"/>
              <a:t>, </a:t>
            </a:r>
            <a:r>
              <a:rPr lang="en-US" altLang="ko-KR" dirty="0" err="1"/>
              <a:t>Uff</a:t>
            </a:r>
            <a:r>
              <a:rPr lang="en-US" altLang="ko-KR" dirty="0"/>
              <a:t> respectively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 err="1"/>
              <a:t>Upi</a:t>
            </a:r>
            <a:r>
              <a:rPr lang="en-US" altLang="ko-KR" dirty="0"/>
              <a:t> &amp; </a:t>
            </a:r>
            <a:r>
              <a:rPr lang="en-US" altLang="ko-KR" dirty="0" err="1"/>
              <a:t>Udob</a:t>
            </a: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 err="1"/>
              <a:t>Upi</a:t>
            </a:r>
            <a:r>
              <a:rPr lang="en-US" altLang="ko-KR" dirty="0"/>
              <a:t> &amp; </a:t>
            </a:r>
            <a:r>
              <a:rPr lang="en-US" altLang="ko-KR" dirty="0" err="1"/>
              <a:t>Udob</a:t>
            </a:r>
            <a:r>
              <a:rPr lang="en-US" altLang="ko-KR" dirty="0"/>
              <a:t> &amp; </a:t>
            </a:r>
            <a:r>
              <a:rPr lang="en-US" altLang="ko-KR" dirty="0" err="1"/>
              <a:t>Uff</a:t>
            </a:r>
            <a:r>
              <a:rPr lang="en-US" altLang="ko-KR" dirty="0"/>
              <a:t> </a:t>
            </a:r>
          </a:p>
          <a:p>
            <a:pPr marL="180000" lvl="1" indent="0"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E3B9A8-E635-67FF-AD03-AE14077CD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656000"/>
            <a:ext cx="3472854" cy="216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B4AF880-182E-D361-F66D-0C0B490D5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4418883"/>
            <a:ext cx="3510000" cy="216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EB667E-3C99-33D9-6107-5F3F0BA5732A}"/>
                  </a:ext>
                </a:extLst>
              </p:cNvPr>
              <p:cNvSpPr txBox="1"/>
              <p:nvPr/>
            </p:nvSpPr>
            <p:spPr>
              <a:xfrm>
                <a:off x="5040000" y="1620000"/>
                <a:ext cx="3171702" cy="162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-20  &lt;  </a:t>
                </a:r>
                <a:r>
                  <a:rPr lang="en-US" altLang="ko-KR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Upi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&lt;  20     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-10  &lt;  </a:t>
                </a:r>
                <a:r>
                  <a:rPr lang="en-US" altLang="ko-KR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Udob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10    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-30  &lt;  </a:t>
                </a:r>
                <a:r>
                  <a:rPr lang="en-US" altLang="ko-KR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Utotal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&lt;  30 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EB667E-3C99-33D9-6107-5F3F0BA57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0" y="1620000"/>
                <a:ext cx="3171702" cy="1620000"/>
              </a:xfrm>
              <a:prstGeom prst="rect">
                <a:avLst/>
              </a:prstGeom>
              <a:blipFill>
                <a:blip r:embed="rId4"/>
                <a:stretch>
                  <a:fillRect l="-769" t="-11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759C89-2B32-CEA5-2796-1132C4C22618}"/>
                  </a:ext>
                </a:extLst>
              </p:cNvPr>
              <p:cNvSpPr txBox="1"/>
              <p:nvPr/>
            </p:nvSpPr>
            <p:spPr>
              <a:xfrm>
                <a:off x="5040000" y="4382883"/>
                <a:ext cx="3420456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-2  &lt;  </a:t>
                </a:r>
                <a:r>
                  <a:rPr lang="en-US" altLang="ko-KR" sz="16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Upi</a:t>
                </a:r>
                <a:r>
                  <a:rPr lang="en-US" altLang="ko-KR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&lt;  2         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ko-KR" sz="16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ko-KR" sz="16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en-US" altLang="ko-KR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-10 &lt; </a:t>
                </a:r>
                <a:r>
                  <a:rPr lang="en-US" altLang="ko-KR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Udob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10      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-20 &lt; </a:t>
                </a:r>
                <a:r>
                  <a:rPr lang="en-US" altLang="ko-KR" sz="16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Uff</a:t>
                </a:r>
                <a:r>
                  <a:rPr lang="en-US" altLang="ko-KR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&lt;  20       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US" altLang="ko-KR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-30 &lt; </a:t>
                </a:r>
                <a:r>
                  <a:rPr lang="en-US" altLang="ko-KR" sz="16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Utotal</a:t>
                </a:r>
                <a:r>
                  <a:rPr lang="en-US" altLang="ko-KR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30    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ko-KR" sz="1600" b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759C89-2B32-CEA5-2796-1132C4C22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0" y="4382883"/>
                <a:ext cx="3420456" cy="1815882"/>
              </a:xfrm>
              <a:prstGeom prst="rect">
                <a:avLst/>
              </a:prstGeom>
              <a:blipFill>
                <a:blip r:embed="rId5"/>
                <a:stretch>
                  <a:fillRect l="-713" t="-1007" b="-33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C97FE0B-1895-D2FC-D42E-2EAA54C5AC15}"/>
              </a:ext>
            </a:extLst>
          </p:cNvPr>
          <p:cNvCxnSpPr>
            <a:cxnSpLocks/>
          </p:cNvCxnSpPr>
          <p:nvPr/>
        </p:nvCxnSpPr>
        <p:spPr>
          <a:xfrm flipH="1">
            <a:off x="2880016" y="1348341"/>
            <a:ext cx="6988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903651E-2B37-3128-3340-598ECA82643C}"/>
              </a:ext>
            </a:extLst>
          </p:cNvPr>
          <p:cNvCxnSpPr>
            <a:cxnSpLocks/>
          </p:cNvCxnSpPr>
          <p:nvPr/>
        </p:nvCxnSpPr>
        <p:spPr>
          <a:xfrm flipH="1">
            <a:off x="2903611" y="1528365"/>
            <a:ext cx="698840" cy="0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0C4D976-FA8E-2EB3-1FF8-C0A336BC7C95}"/>
              </a:ext>
            </a:extLst>
          </p:cNvPr>
          <p:cNvSpPr txBox="1"/>
          <p:nvPr/>
        </p:nvSpPr>
        <p:spPr>
          <a:xfrm>
            <a:off x="3638649" y="1213401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Upi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9FEC8A-2E6E-DD3C-D5B2-14F635E79E2E}"/>
              </a:ext>
            </a:extLst>
          </p:cNvPr>
          <p:cNvSpPr txBox="1"/>
          <p:nvPr/>
        </p:nvSpPr>
        <p:spPr>
          <a:xfrm>
            <a:off x="3638648" y="1400381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Udob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F4FA2C5-B87E-6C83-6233-6F4B276D3DC4}"/>
              </a:ext>
            </a:extLst>
          </p:cNvPr>
          <p:cNvCxnSpPr>
            <a:cxnSpLocks/>
          </p:cNvCxnSpPr>
          <p:nvPr/>
        </p:nvCxnSpPr>
        <p:spPr>
          <a:xfrm flipH="1">
            <a:off x="2903611" y="4304645"/>
            <a:ext cx="69884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51AA97-C09E-9D74-D337-948535C06414}"/>
              </a:ext>
            </a:extLst>
          </p:cNvPr>
          <p:cNvSpPr txBox="1"/>
          <p:nvPr/>
        </p:nvSpPr>
        <p:spPr>
          <a:xfrm>
            <a:off x="3638647" y="4142133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Uff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297A09-604B-E0A5-DABF-CC1E35E193F3}"/>
              </a:ext>
            </a:extLst>
          </p:cNvPr>
          <p:cNvSpPr txBox="1"/>
          <p:nvPr/>
        </p:nvSpPr>
        <p:spPr>
          <a:xfrm>
            <a:off x="3578856" y="3825118"/>
            <a:ext cx="194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[s]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0023BE-F662-6F36-1A82-EA46F9923281}"/>
              </a:ext>
            </a:extLst>
          </p:cNvPr>
          <p:cNvSpPr txBox="1"/>
          <p:nvPr/>
        </p:nvSpPr>
        <p:spPr>
          <a:xfrm>
            <a:off x="3638647" y="6547369"/>
            <a:ext cx="194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[s]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9F9C22-4C4B-BE28-154A-0BDF53128C48}"/>
              </a:ext>
            </a:extLst>
          </p:cNvPr>
          <p:cNvSpPr txBox="1"/>
          <p:nvPr/>
        </p:nvSpPr>
        <p:spPr>
          <a:xfrm>
            <a:off x="175741" y="2597500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T[Nm]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6AF25A-BFD9-8DF5-1B1F-5C54E0F0BEDC}"/>
              </a:ext>
            </a:extLst>
          </p:cNvPr>
          <p:cNvSpPr txBox="1"/>
          <p:nvPr/>
        </p:nvSpPr>
        <p:spPr>
          <a:xfrm>
            <a:off x="165187" y="5360383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T[Nm]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468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0C76A-8038-8EA3-1BF1-90429102E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897978-9D89-B3C8-A3B1-D25AB2BE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Change of Control Input &amp; Tracking Performance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9F5A0F-2ADF-CDC4-E07D-8724D1382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Change of the Tracking  Performance </a:t>
            </a:r>
            <a:endParaRPr lang="ko-KR" altLang="en-US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 err="1"/>
              <a:t>Upi</a:t>
            </a:r>
            <a:r>
              <a:rPr lang="en-US" altLang="ko-KR" dirty="0"/>
              <a:t> &amp; </a:t>
            </a:r>
            <a:r>
              <a:rPr lang="en-US" altLang="ko-KR" dirty="0" err="1"/>
              <a:t>Udob</a:t>
            </a: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 err="1"/>
              <a:t>Upi</a:t>
            </a:r>
            <a:r>
              <a:rPr lang="en-US" altLang="ko-KR" dirty="0"/>
              <a:t> &amp; </a:t>
            </a:r>
            <a:r>
              <a:rPr lang="en-US" altLang="ko-KR" dirty="0" err="1"/>
              <a:t>Udob</a:t>
            </a:r>
            <a:r>
              <a:rPr lang="en-US" altLang="ko-KR" dirty="0"/>
              <a:t> &amp; </a:t>
            </a:r>
            <a:r>
              <a:rPr lang="en-US" altLang="ko-KR" dirty="0" err="1"/>
              <a:t>Uff</a:t>
            </a:r>
            <a:r>
              <a:rPr lang="en-US" altLang="ko-KR" dirty="0"/>
              <a:t> 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C74892-A9B0-B6BB-5421-EB7175656D85}"/>
              </a:ext>
            </a:extLst>
          </p:cNvPr>
          <p:cNvSpPr txBox="1"/>
          <p:nvPr/>
        </p:nvSpPr>
        <p:spPr>
          <a:xfrm>
            <a:off x="5040000" y="1620000"/>
            <a:ext cx="31717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lag and Tracking Error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82FD39-1698-A462-95E4-26D429573576}"/>
              </a:ext>
            </a:extLst>
          </p:cNvPr>
          <p:cNvSpPr txBox="1"/>
          <p:nvPr/>
        </p:nvSpPr>
        <p:spPr>
          <a:xfrm>
            <a:off x="5040000" y="4409516"/>
            <a:ext cx="3420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Error and response performance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49530C-B583-AC84-0382-04456DF95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656000"/>
            <a:ext cx="3446242" cy="216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F327FF-EC52-2AD0-8341-10E946165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4445516"/>
            <a:ext cx="3473815" cy="2160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AA8DBC-1B29-0016-BACE-724C2DECFDF9}"/>
              </a:ext>
            </a:extLst>
          </p:cNvPr>
          <p:cNvCxnSpPr>
            <a:cxnSpLocks/>
          </p:cNvCxnSpPr>
          <p:nvPr/>
        </p:nvCxnSpPr>
        <p:spPr>
          <a:xfrm flipH="1">
            <a:off x="2880016" y="1348341"/>
            <a:ext cx="69884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8ABF3D3-BB35-BB46-5CAA-90BDDF87DF6C}"/>
              </a:ext>
            </a:extLst>
          </p:cNvPr>
          <p:cNvCxnSpPr>
            <a:cxnSpLocks/>
          </p:cNvCxnSpPr>
          <p:nvPr/>
        </p:nvCxnSpPr>
        <p:spPr>
          <a:xfrm flipH="1">
            <a:off x="2903611" y="1528365"/>
            <a:ext cx="69884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CA6A288-9706-0490-8534-007A3D4E66DE}"/>
              </a:ext>
            </a:extLst>
          </p:cNvPr>
          <p:cNvSpPr txBox="1"/>
          <p:nvPr/>
        </p:nvSpPr>
        <p:spPr>
          <a:xfrm>
            <a:off x="3638649" y="1213401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Ref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C3FD7B-62A8-3F4D-6823-A67E01BB5108}"/>
              </a:ext>
            </a:extLst>
          </p:cNvPr>
          <p:cNvSpPr txBox="1"/>
          <p:nvPr/>
        </p:nvSpPr>
        <p:spPr>
          <a:xfrm>
            <a:off x="3638648" y="1400381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91265D7-A6E8-EAF3-191A-4BB221FB835E}"/>
              </a:ext>
            </a:extLst>
          </p:cNvPr>
          <p:cNvCxnSpPr>
            <a:cxnSpLocks/>
          </p:cNvCxnSpPr>
          <p:nvPr/>
        </p:nvCxnSpPr>
        <p:spPr>
          <a:xfrm flipH="1">
            <a:off x="2880015" y="4149096"/>
            <a:ext cx="69884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DB658D-6DA8-54E7-92AA-437C9038854F}"/>
              </a:ext>
            </a:extLst>
          </p:cNvPr>
          <p:cNvCxnSpPr>
            <a:cxnSpLocks/>
          </p:cNvCxnSpPr>
          <p:nvPr/>
        </p:nvCxnSpPr>
        <p:spPr>
          <a:xfrm flipH="1">
            <a:off x="2903610" y="4329120"/>
            <a:ext cx="69884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5EC0A71-28A5-682D-1FB6-B50BC849FBAF}"/>
              </a:ext>
            </a:extLst>
          </p:cNvPr>
          <p:cNvSpPr txBox="1"/>
          <p:nvPr/>
        </p:nvSpPr>
        <p:spPr>
          <a:xfrm>
            <a:off x="3638648" y="4176640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Ref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9E0946-5629-1AAC-1C8C-AB75A1834B5B}"/>
              </a:ext>
            </a:extLst>
          </p:cNvPr>
          <p:cNvSpPr txBox="1"/>
          <p:nvPr/>
        </p:nvSpPr>
        <p:spPr>
          <a:xfrm>
            <a:off x="3638647" y="4363620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C56C42-0F23-BDF2-A321-8B235EDE1D31}"/>
              </a:ext>
            </a:extLst>
          </p:cNvPr>
          <p:cNvSpPr txBox="1"/>
          <p:nvPr/>
        </p:nvSpPr>
        <p:spPr>
          <a:xfrm>
            <a:off x="3552068" y="3807877"/>
            <a:ext cx="194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[s]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089A0F-957B-135E-8283-26F4ECE1D2D2}"/>
              </a:ext>
            </a:extLst>
          </p:cNvPr>
          <p:cNvSpPr txBox="1"/>
          <p:nvPr/>
        </p:nvSpPr>
        <p:spPr>
          <a:xfrm>
            <a:off x="3578856" y="6548912"/>
            <a:ext cx="194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[s]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C6BE0E-C270-2A6E-1F21-88843923EC4F}"/>
              </a:ext>
            </a:extLst>
          </p:cNvPr>
          <p:cNvSpPr txBox="1"/>
          <p:nvPr/>
        </p:nvSpPr>
        <p:spPr>
          <a:xfrm>
            <a:off x="-30835" y="2597500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W[rad/s]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4EA1DA-D65F-885E-F2B3-757B89B0B988}"/>
              </a:ext>
            </a:extLst>
          </p:cNvPr>
          <p:cNvSpPr txBox="1"/>
          <p:nvPr/>
        </p:nvSpPr>
        <p:spPr>
          <a:xfrm>
            <a:off x="-30835" y="5444251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W[rad/s]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191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1D66-B786-ADFE-3C1E-9FB596B2E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ABD2D-BA8C-F36A-9663-D97FAFFA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Adding the nominal values of </a:t>
            </a:r>
            <a:r>
              <a:rPr lang="en-US" altLang="ko-KR" dirty="0" err="1"/>
              <a:t>maxon</a:t>
            </a:r>
            <a:r>
              <a:rPr lang="en-US" altLang="ko-KR" dirty="0"/>
              <a:t> motor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1526B6-3282-17F9-1C58-DD0BFC622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760" y="818652"/>
            <a:ext cx="8712200" cy="603934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Velocity Control Block Diagram with PI, DOB &amp; Feed Forward (Maxon motor)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Nominal Parameters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ko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AFABFABE-DF23-4866-6E98-3D2AFBE452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2842617"/>
                  </p:ext>
                </p:extLst>
              </p:nvPr>
            </p:nvGraphicFramePr>
            <p:xfrm>
              <a:off x="486000" y="5319252"/>
              <a:ext cx="8226552" cy="810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2184">
                      <a:extLst>
                        <a:ext uri="{9D8B030D-6E8A-4147-A177-3AD203B41FA5}">
                          <a16:colId xmlns:a16="http://schemas.microsoft.com/office/drawing/2014/main" val="3610612439"/>
                        </a:ext>
                      </a:extLst>
                    </a:gridCol>
                    <a:gridCol w="2742184">
                      <a:extLst>
                        <a:ext uri="{9D8B030D-6E8A-4147-A177-3AD203B41FA5}">
                          <a16:colId xmlns:a16="http://schemas.microsoft.com/office/drawing/2014/main" val="1984093945"/>
                        </a:ext>
                      </a:extLst>
                    </a:gridCol>
                    <a:gridCol w="2742184">
                      <a:extLst>
                        <a:ext uri="{9D8B030D-6E8A-4147-A177-3AD203B41FA5}">
                          <a16:colId xmlns:a16="http://schemas.microsoft.com/office/drawing/2014/main" val="1271390722"/>
                        </a:ext>
                      </a:extLst>
                    </a:gridCol>
                  </a:tblGrid>
                  <a:tr h="4050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Jn</a:t>
                          </a:r>
                          <a:endParaRPr lang="ko-KR" altLang="en-US" sz="1600" dirty="0"/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Bn</a:t>
                          </a:r>
                          <a:endParaRPr lang="ko-KR" altLang="en-US" sz="1600" dirty="0"/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Saturation(Rated Torque)</a:t>
                          </a:r>
                          <a:endParaRPr lang="ko-KR" altLang="en-US" sz="1600" dirty="0"/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990863"/>
                      </a:ext>
                    </a:extLst>
                  </a:tr>
                  <a:tr h="405054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400" b="1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1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5.1</m:t>
                                  </m:r>
                                  <m:r>
                                    <a:rPr lang="en-US" altLang="ko-KR" sz="1400" b="1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×</m:t>
                                  </m:r>
                                  <m:r>
                                    <a:rPr lang="en-US" altLang="ko-KR" sz="1400" b="1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ko-KR" sz="1400" b="1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-4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kg</m:t>
                              </m:r>
                              <m: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altLang="ko-KR" sz="1400" b="1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400" b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altLang="ko-KR" sz="1400" b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]</a:t>
                          </a:r>
                          <a:endParaRPr lang="ko-KR" altLang="en-US" sz="14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400" b="1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1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3.07</m:t>
                                  </m:r>
                                  <m:r>
                                    <a:rPr lang="en-US" altLang="ko-KR" sz="1400" b="1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×</m:t>
                                  </m:r>
                                  <m:r>
                                    <a:rPr lang="en-US" altLang="ko-KR" sz="1400" b="1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ko-KR" sz="1400" b="1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  <m: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lang="ko-KR" altLang="en-US" sz="1400" b="1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sz="1400" i="1" smtClean="0">
                                  <a:latin typeface="Cambria Math" panose="02040503050406030204" pitchFamily="18" charset="0"/>
                                </a:rPr>
                                <m:t>1.56</m:t>
                              </m:r>
                            </m:oMath>
                          </a14:m>
                          <a:r>
                            <a:rPr lang="ko-KR" altLang="en-US" sz="1400" dirty="0"/>
                            <a:t> </a:t>
                          </a:r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400" b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</m:oMath>
                          </a14:m>
                          <a:r>
                            <a:rPr lang="en-US" altLang="ko-KR" sz="1400" b="1" kern="12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]</a:t>
                          </a:r>
                          <a:endParaRPr lang="ko-KR" altLang="en-US" sz="14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457946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AFABFABE-DF23-4866-6E98-3D2AFBE452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2842617"/>
                  </p:ext>
                </p:extLst>
              </p:nvPr>
            </p:nvGraphicFramePr>
            <p:xfrm>
              <a:off x="486000" y="5319252"/>
              <a:ext cx="8226552" cy="810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2184">
                      <a:extLst>
                        <a:ext uri="{9D8B030D-6E8A-4147-A177-3AD203B41FA5}">
                          <a16:colId xmlns:a16="http://schemas.microsoft.com/office/drawing/2014/main" val="3610612439"/>
                        </a:ext>
                      </a:extLst>
                    </a:gridCol>
                    <a:gridCol w="2742184">
                      <a:extLst>
                        <a:ext uri="{9D8B030D-6E8A-4147-A177-3AD203B41FA5}">
                          <a16:colId xmlns:a16="http://schemas.microsoft.com/office/drawing/2014/main" val="1984093945"/>
                        </a:ext>
                      </a:extLst>
                    </a:gridCol>
                    <a:gridCol w="2742184">
                      <a:extLst>
                        <a:ext uri="{9D8B030D-6E8A-4147-A177-3AD203B41FA5}">
                          <a16:colId xmlns:a16="http://schemas.microsoft.com/office/drawing/2014/main" val="1271390722"/>
                        </a:ext>
                      </a:extLst>
                    </a:gridCol>
                  </a:tblGrid>
                  <a:tr h="4050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Jn</a:t>
                          </a:r>
                          <a:endParaRPr lang="ko-KR" altLang="en-US" sz="1600" dirty="0"/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Bn</a:t>
                          </a:r>
                          <a:endParaRPr lang="ko-KR" altLang="en-US" sz="1600" dirty="0"/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Saturation(Rated Torque)</a:t>
                          </a:r>
                          <a:endParaRPr lang="ko-KR" altLang="en-US" sz="1600" dirty="0"/>
                        </a:p>
                      </a:txBody>
                      <a:tcPr>
                        <a:solidFill>
                          <a:srgbClr val="1A3F5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990863"/>
                      </a:ext>
                    </a:extLst>
                  </a:tr>
                  <a:tr h="4050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222" t="-102985" r="-201111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2985" r="-100665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200444" t="-102985" r="-889" b="-2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457946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F3992D22-CD2E-BF85-A7AC-B1A1102AF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0000"/>
            <a:ext cx="9144000" cy="298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671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34952-4410-B578-9432-08DB8F7DB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61A81-825A-FEEE-084B-38D5D2835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Effect of Saturation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CDD44F-9568-9BB1-01FE-905DE22A4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00" y="4797144"/>
            <a:ext cx="8775700" cy="3591132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Analysis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Saturation case’s </a:t>
            </a:r>
            <a:r>
              <a:rPr lang="en-US" altLang="ko-KR" dirty="0" err="1"/>
              <a:t>Upi</a:t>
            </a:r>
            <a:r>
              <a:rPr lang="en-US" altLang="ko-KR" dirty="0"/>
              <a:t> is bigger than Ideal Case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Saturation case’s </a:t>
            </a:r>
            <a:r>
              <a:rPr lang="en-US" altLang="ko-KR" dirty="0" err="1"/>
              <a:t>Udob</a:t>
            </a:r>
            <a:r>
              <a:rPr lang="en-US" altLang="ko-KR" dirty="0"/>
              <a:t> becomes irregular than Ideal Case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5D7D7B3C-400F-8BA1-9F23-869375E673F5}"/>
              </a:ext>
            </a:extLst>
          </p:cNvPr>
          <p:cNvSpPr txBox="1">
            <a:spLocks/>
          </p:cNvSpPr>
          <p:nvPr/>
        </p:nvSpPr>
        <p:spPr>
          <a:xfrm>
            <a:off x="4707050" y="828000"/>
            <a:ext cx="3636004" cy="55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400" indent="-266400" algn="l" defTabSz="914400" rtl="0" eaLnBrk="1" latinLnBrk="0" hangingPunct="1">
              <a:lnSpc>
                <a:spcPct val="160000"/>
              </a:lnSpc>
              <a:spcBef>
                <a:spcPts val="384"/>
              </a:spcBef>
              <a:buClr>
                <a:schemeClr val="tx1"/>
              </a:buClr>
              <a:buFont typeface="+mj-lt"/>
              <a:buAutoNum type="arabicPeriod"/>
              <a:defRPr sz="16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464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+mj-lt"/>
              <a:buAutoNum type="arabicParenR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264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 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Saturation Case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D9D613DA-6435-2F14-6300-CD94B0ED0741}"/>
              </a:ext>
            </a:extLst>
          </p:cNvPr>
          <p:cNvSpPr txBox="1">
            <a:spLocks/>
          </p:cNvSpPr>
          <p:nvPr/>
        </p:nvSpPr>
        <p:spPr>
          <a:xfrm>
            <a:off x="216000" y="828000"/>
            <a:ext cx="3636004" cy="3591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400" indent="-266400" algn="l" defTabSz="914400" rtl="0" eaLnBrk="1" latinLnBrk="0" hangingPunct="1">
              <a:lnSpc>
                <a:spcPct val="160000"/>
              </a:lnSpc>
              <a:spcBef>
                <a:spcPts val="384"/>
              </a:spcBef>
              <a:buClr>
                <a:schemeClr val="tx1"/>
              </a:buClr>
              <a:buFont typeface="+mj-lt"/>
              <a:buAutoNum type="arabicPeriod"/>
              <a:defRPr sz="16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464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+mj-lt"/>
              <a:buAutoNum type="arabicParenR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264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Change of Control input  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Ideal Case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EFEFB0-94C6-A976-A628-93B307FA4FC1}"/>
              </a:ext>
            </a:extLst>
          </p:cNvPr>
          <p:cNvSpPr txBox="1"/>
          <p:nvPr/>
        </p:nvSpPr>
        <p:spPr>
          <a:xfrm>
            <a:off x="3682438" y="4123091"/>
            <a:ext cx="194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[s]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3FB2BE-C4A5-50A5-4208-A05C3795A0E8}"/>
              </a:ext>
            </a:extLst>
          </p:cNvPr>
          <p:cNvSpPr txBox="1"/>
          <p:nvPr/>
        </p:nvSpPr>
        <p:spPr>
          <a:xfrm>
            <a:off x="8122503" y="4149494"/>
            <a:ext cx="194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[s]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F70F5C-3E8F-85A1-4823-07A5EA9E8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1800000"/>
            <a:ext cx="3769193" cy="234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D42E01-3B82-BF92-1009-494E8DD97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80" y="1800000"/>
            <a:ext cx="3738234" cy="234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E79C2D-A031-D854-CFB5-94F44E55AAE0}"/>
              </a:ext>
            </a:extLst>
          </p:cNvPr>
          <p:cNvSpPr txBox="1"/>
          <p:nvPr/>
        </p:nvSpPr>
        <p:spPr>
          <a:xfrm>
            <a:off x="0" y="2970000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T[Nm]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69618D-C520-1B24-5189-4F09E6552EF3}"/>
              </a:ext>
            </a:extLst>
          </p:cNvPr>
          <p:cNvSpPr txBox="1"/>
          <p:nvPr/>
        </p:nvSpPr>
        <p:spPr>
          <a:xfrm>
            <a:off x="4416292" y="2969636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T[Nm]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33113FC-037B-6494-FCDA-E36317BFDC84}"/>
              </a:ext>
            </a:extLst>
          </p:cNvPr>
          <p:cNvCxnSpPr>
            <a:cxnSpLocks/>
          </p:cNvCxnSpPr>
          <p:nvPr/>
        </p:nvCxnSpPr>
        <p:spPr>
          <a:xfrm flipH="1">
            <a:off x="7588715" y="4501156"/>
            <a:ext cx="6988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2018093-341C-BA11-0914-AB1E62005131}"/>
              </a:ext>
            </a:extLst>
          </p:cNvPr>
          <p:cNvCxnSpPr>
            <a:cxnSpLocks/>
          </p:cNvCxnSpPr>
          <p:nvPr/>
        </p:nvCxnSpPr>
        <p:spPr>
          <a:xfrm flipH="1">
            <a:off x="7612310" y="4681180"/>
            <a:ext cx="698840" cy="0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1784F6F-8158-9FEF-E2C3-24FA2F5A5C84}"/>
              </a:ext>
            </a:extLst>
          </p:cNvPr>
          <p:cNvSpPr txBox="1"/>
          <p:nvPr/>
        </p:nvSpPr>
        <p:spPr>
          <a:xfrm>
            <a:off x="8347348" y="4366216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Upi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868FD9-9FEC-5A1E-6A75-2FD8A0C2A459}"/>
              </a:ext>
            </a:extLst>
          </p:cNvPr>
          <p:cNvSpPr txBox="1"/>
          <p:nvPr/>
        </p:nvSpPr>
        <p:spPr>
          <a:xfrm>
            <a:off x="8347347" y="4553196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Udob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3B023FE-878A-FCFE-0658-1E28228D7393}"/>
              </a:ext>
            </a:extLst>
          </p:cNvPr>
          <p:cNvCxnSpPr>
            <a:cxnSpLocks/>
          </p:cNvCxnSpPr>
          <p:nvPr/>
        </p:nvCxnSpPr>
        <p:spPr>
          <a:xfrm flipH="1">
            <a:off x="6398528" y="4534050"/>
            <a:ext cx="69884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0CE7383-8984-0CD2-F5B7-ED71010D735E}"/>
              </a:ext>
            </a:extLst>
          </p:cNvPr>
          <p:cNvSpPr txBox="1"/>
          <p:nvPr/>
        </p:nvSpPr>
        <p:spPr>
          <a:xfrm>
            <a:off x="7133564" y="4371538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Uff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35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E6A8D-A1ED-B25C-884F-876AF217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D5836-C350-BB08-1B45-890D5765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Effect of Saturation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D3C9AF6-A080-B99C-4E9B-B77D920D18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6000" y="4797144"/>
                <a:ext cx="8775700" cy="3591132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altLang="ko-KR" dirty="0"/>
                  <a:t>Analysis</a:t>
                </a:r>
              </a:p>
              <a:p>
                <a:pPr marL="465750" lvl="1" indent="-285750">
                  <a:buFont typeface="Wingdings" panose="05000000000000000000" pitchFamily="2" charset="2"/>
                  <a:buChar char="l"/>
                </a:pPr>
                <a:r>
                  <a:rPr lang="en-US" altLang="ko-KR" dirty="0"/>
                  <a:t>Phase Lag, Magnitude Decrease</a:t>
                </a: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en-US" altLang="ko-KR" dirty="0"/>
                  <a:t>Conclusion</a:t>
                </a:r>
              </a:p>
              <a:p>
                <a:pPr marL="465750" lvl="1" indent="-285750">
                  <a:buFont typeface="Wingdings" panose="05000000000000000000" pitchFamily="2" charset="2"/>
                  <a:buChar char="l"/>
                </a:pPr>
                <a:r>
                  <a:rPr lang="en-US" altLang="ko-KR" dirty="0"/>
                  <a:t>Actuator saturation leads to error accumulation, which increases the integrator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/>
                        </m:ctrlPr>
                      </m:sSubPr>
                      <m:e>
                        <m:r>
                          <a:rPr lang="ko-KR" altLang="ar-AE" i="1"/>
                          <m:t>𝑈</m:t>
                        </m:r>
                      </m:e>
                      <m:sub>
                        <m:r>
                          <a:rPr lang="ko-KR" altLang="ar-AE" i="1"/>
                          <m:t>𝑝𝑖</m:t>
                        </m:r>
                      </m:sub>
                    </m:sSub>
                  </m:oMath>
                </a14:m>
                <a:r>
                  <a:rPr lang="en-US" altLang="ko-KR" dirty="0"/>
                  <a:t>and degrades the tracking performance.</a:t>
                </a:r>
              </a:p>
              <a:p>
                <a:pPr marL="465750" lvl="1" indent="-285750">
                  <a:buFont typeface="Wingdings" panose="05000000000000000000" pitchFamily="2" charset="2"/>
                  <a:buChar char="l"/>
                </a:pPr>
                <a:endParaRPr lang="en-US" altLang="ko-KR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D3C9AF6-A080-B99C-4E9B-B77D920D18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6000" y="4797144"/>
                <a:ext cx="8775700" cy="3591132"/>
              </a:xfrm>
              <a:blipFill>
                <a:blip r:embed="rId2"/>
                <a:stretch>
                  <a:fillRect l="-2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2BCC746B-648D-63AE-4559-B629ED27C5D9}"/>
              </a:ext>
            </a:extLst>
          </p:cNvPr>
          <p:cNvSpPr txBox="1">
            <a:spLocks/>
          </p:cNvSpPr>
          <p:nvPr/>
        </p:nvSpPr>
        <p:spPr>
          <a:xfrm>
            <a:off x="4707050" y="828000"/>
            <a:ext cx="3636004" cy="55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400" indent="-266400" algn="l" defTabSz="914400" rtl="0" eaLnBrk="1" latinLnBrk="0" hangingPunct="1">
              <a:lnSpc>
                <a:spcPct val="160000"/>
              </a:lnSpc>
              <a:spcBef>
                <a:spcPts val="384"/>
              </a:spcBef>
              <a:buClr>
                <a:schemeClr val="tx1"/>
              </a:buClr>
              <a:buFont typeface="+mj-lt"/>
              <a:buAutoNum type="arabicPeriod"/>
              <a:defRPr sz="16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464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+mj-lt"/>
              <a:buAutoNum type="arabicParenR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264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 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Saturation Case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9A0473C7-C19D-999C-86EE-14F654884162}"/>
              </a:ext>
            </a:extLst>
          </p:cNvPr>
          <p:cNvSpPr txBox="1">
            <a:spLocks/>
          </p:cNvSpPr>
          <p:nvPr/>
        </p:nvSpPr>
        <p:spPr>
          <a:xfrm>
            <a:off x="216000" y="828000"/>
            <a:ext cx="3636004" cy="3591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400" indent="-266400" algn="l" defTabSz="914400" rtl="0" eaLnBrk="1" latinLnBrk="0" hangingPunct="1">
              <a:lnSpc>
                <a:spcPct val="160000"/>
              </a:lnSpc>
              <a:spcBef>
                <a:spcPts val="384"/>
              </a:spcBef>
              <a:buClr>
                <a:schemeClr val="tx1"/>
              </a:buClr>
              <a:buFont typeface="+mj-lt"/>
              <a:buAutoNum type="arabicPeriod"/>
              <a:defRPr sz="16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464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+mj-lt"/>
              <a:buAutoNum type="arabicParenR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264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Reference Tracking Performance 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Ideal Case</a:t>
            </a:r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180000" lvl="1" indent="0">
              <a:buFont typeface="+mj-lt"/>
              <a:buNone/>
            </a:pPr>
            <a:endParaRPr lang="en-US" altLang="ko-KR" dirty="0"/>
          </a:p>
          <a:p>
            <a:pPr marL="465750" lvl="1" indent="-285750">
              <a:buFont typeface="Wingdings" panose="05000000000000000000" pitchFamily="2" charset="2"/>
              <a:buChar char="l"/>
            </a:pP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1EE819-5553-C5B1-E325-1B38CECF544D}"/>
              </a:ext>
            </a:extLst>
          </p:cNvPr>
          <p:cNvSpPr txBox="1"/>
          <p:nvPr/>
        </p:nvSpPr>
        <p:spPr>
          <a:xfrm>
            <a:off x="3682438" y="4123091"/>
            <a:ext cx="194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[s]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83704B-F3FC-EE20-84B3-E7CE4D1B0B9B}"/>
              </a:ext>
            </a:extLst>
          </p:cNvPr>
          <p:cNvSpPr txBox="1"/>
          <p:nvPr/>
        </p:nvSpPr>
        <p:spPr>
          <a:xfrm>
            <a:off x="-105204" y="2840284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W[rad/s]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9312CD-166E-C57E-6A69-EAC58AB5D902}"/>
              </a:ext>
            </a:extLst>
          </p:cNvPr>
          <p:cNvSpPr txBox="1"/>
          <p:nvPr/>
        </p:nvSpPr>
        <p:spPr>
          <a:xfrm>
            <a:off x="4316293" y="2842570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W[rad/s]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807B26-59F0-6E21-D6D3-E1FDABF0E2A0}"/>
              </a:ext>
            </a:extLst>
          </p:cNvPr>
          <p:cNvSpPr txBox="1"/>
          <p:nvPr/>
        </p:nvSpPr>
        <p:spPr>
          <a:xfrm>
            <a:off x="8172480" y="4148784"/>
            <a:ext cx="1944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[s]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C513BC2-3FA7-CC5E-3F61-8CB8B1C55200}"/>
              </a:ext>
            </a:extLst>
          </p:cNvPr>
          <p:cNvCxnSpPr>
            <a:cxnSpLocks/>
          </p:cNvCxnSpPr>
          <p:nvPr/>
        </p:nvCxnSpPr>
        <p:spPr>
          <a:xfrm flipH="1">
            <a:off x="7499576" y="4511089"/>
            <a:ext cx="69884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EBF836B-775F-4C6C-83FD-FFB5131965F4}"/>
              </a:ext>
            </a:extLst>
          </p:cNvPr>
          <p:cNvCxnSpPr>
            <a:cxnSpLocks/>
          </p:cNvCxnSpPr>
          <p:nvPr/>
        </p:nvCxnSpPr>
        <p:spPr>
          <a:xfrm flipH="1">
            <a:off x="7523171" y="4691113"/>
            <a:ext cx="69884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4DA90E9-D48B-D2EC-1C18-DCCD2CB0DDB5}"/>
              </a:ext>
            </a:extLst>
          </p:cNvPr>
          <p:cNvSpPr txBox="1"/>
          <p:nvPr/>
        </p:nvSpPr>
        <p:spPr>
          <a:xfrm>
            <a:off x="8258209" y="4376149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6EA4ED-2211-CE18-C50B-404BAD8D9A36}"/>
              </a:ext>
            </a:extLst>
          </p:cNvPr>
          <p:cNvSpPr txBox="1"/>
          <p:nvPr/>
        </p:nvSpPr>
        <p:spPr>
          <a:xfrm>
            <a:off x="8258208" y="4563129"/>
            <a:ext cx="885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E362DF-71DA-6E1D-DBD8-76D17A3C2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00" y="1800000"/>
            <a:ext cx="3708000" cy="23092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6AD9095-01A1-8ED7-52D1-61DF48887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059" y="1800000"/>
            <a:ext cx="374111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11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F39D2-56D6-F1A3-ECF3-79EBA80E8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18DEC-0C39-8F14-24CB-6A5605E1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 DO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473021-E28C-1861-4818-BD8EC081B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/>
              <a:t>Rover wheel</a:t>
            </a:r>
            <a:r>
              <a:rPr lang="ko-KR" altLang="en-US" dirty="0"/>
              <a:t>을 통해 시뮬레이션으로 학습했던 내용들을 실습해본다</a:t>
            </a:r>
            <a:r>
              <a:rPr lang="en-US" altLang="ko-KR" dirty="0"/>
              <a:t>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dirty="0"/>
              <a:t>특히 입력 주파수 대역과 </a:t>
            </a:r>
            <a:r>
              <a:rPr lang="en-US" altLang="ko-KR" dirty="0"/>
              <a:t>Bandwidth, Cutoff Frequency</a:t>
            </a:r>
            <a:r>
              <a:rPr lang="ko-KR" altLang="en-US" dirty="0"/>
              <a:t>를 고려하며 </a:t>
            </a:r>
            <a:r>
              <a:rPr lang="en-US" altLang="ko-KR" dirty="0"/>
              <a:t>tracking</a:t>
            </a:r>
            <a:r>
              <a:rPr lang="ko-KR" altLang="en-US" dirty="0"/>
              <a:t>튜닝을 진행한다</a:t>
            </a:r>
            <a:r>
              <a:rPr lang="en-US" altLang="ko-KR" dirty="0"/>
              <a:t>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6751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2436</TotalTime>
  <Words>761</Words>
  <Application>Microsoft Office PowerPoint</Application>
  <PresentationFormat>화면 슬라이드 쇼(4:3)</PresentationFormat>
  <Paragraphs>330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Arial</vt:lpstr>
      <vt:lpstr>Cambria Math</vt:lpstr>
      <vt:lpstr>Times New Roman</vt:lpstr>
      <vt:lpstr>Wingdings</vt:lpstr>
      <vt:lpstr>Office Theme</vt:lpstr>
      <vt:lpstr>2026.03.05 일일 보고 학습 내용 정리</vt:lpstr>
      <vt:lpstr>목차</vt:lpstr>
      <vt:lpstr>Pole Placement PI &amp; DOB 구현</vt:lpstr>
      <vt:lpstr>Tracking Performance with Bode plot</vt:lpstr>
      <vt:lpstr>Tracking Performance with Bode plot</vt:lpstr>
      <vt:lpstr>Tracking Performance with Bode plot</vt:lpstr>
      <vt:lpstr>Disturbance Estimation Performance</vt:lpstr>
      <vt:lpstr>Adding  Feed Forward Control</vt:lpstr>
      <vt:lpstr>Change of Control Input &amp; Tracking Performance</vt:lpstr>
      <vt:lpstr>Change of Control Input &amp; Tracking Performance</vt:lpstr>
      <vt:lpstr>Adding the nominal values of maxon motor</vt:lpstr>
      <vt:lpstr>Effect of Saturation</vt:lpstr>
      <vt:lpstr>Effect of Saturation</vt:lpstr>
      <vt:lpstr>TO 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최원혁</dc:creator>
  <cp:lastModifiedBy>민수 공</cp:lastModifiedBy>
  <cp:revision>18</cp:revision>
  <dcterms:created xsi:type="dcterms:W3CDTF">2025-08-19T06:35:45Z</dcterms:created>
  <dcterms:modified xsi:type="dcterms:W3CDTF">2026-03-04T17:08:06Z</dcterms:modified>
</cp:coreProperties>
</file>